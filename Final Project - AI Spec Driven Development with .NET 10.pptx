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60" r:id="rId6"/>
    <p:sldId id="264" r:id="rId7"/>
    <p:sldId id="273" r:id="rId8"/>
    <p:sldId id="274" r:id="rId9"/>
    <p:sldId id="275" r:id="rId10"/>
    <p:sldId id="261" r:id="rId11"/>
    <p:sldId id="267" r:id="rId12"/>
    <p:sldId id="270" r:id="rId13"/>
  </p:sldIdLst>
  <p:sldSz cx="18288000" cy="10287000"/>
  <p:notesSz cx="6858000" cy="9144000"/>
  <p:embeddedFontLst>
    <p:embeddedFont>
      <p:font typeface="Garet" panose="020B0604020202020204" charset="0"/>
      <p:regular r:id="rId14"/>
    </p:embeddedFont>
    <p:embeddedFont>
      <p:font typeface="Garet Bold" panose="020B0604020202020204" charset="0"/>
      <p:regular r:id="rId15"/>
    </p:embeddedFont>
    <p:embeddedFont>
      <p:font typeface="Open Sans" panose="020B0606030504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3B2827-0E41-48B7-A091-1979AF7B3E2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PE"/>
        </a:p>
      </dgm:t>
    </dgm:pt>
    <dgm:pt modelId="{322B291F-A870-4DE5-9CCB-9B370954A6F6}">
      <dgm:prSet phldrT="[Texto]"/>
      <dgm:spPr/>
      <dgm:t>
        <a:bodyPr/>
        <a:lstStyle/>
        <a:p>
          <a:r>
            <a:rPr lang="es-PE" dirty="0"/>
            <a:t>001-consulta-productos-bancarios</a:t>
          </a:r>
        </a:p>
      </dgm:t>
    </dgm:pt>
    <dgm:pt modelId="{60F250FA-DCE9-4705-8B5B-0D2505B9D78E}" type="parTrans" cxnId="{5EEE85AB-EC8A-49FF-B339-E0AFA24082D0}">
      <dgm:prSet/>
      <dgm:spPr/>
      <dgm:t>
        <a:bodyPr/>
        <a:lstStyle/>
        <a:p>
          <a:endParaRPr lang="es-PE"/>
        </a:p>
      </dgm:t>
    </dgm:pt>
    <dgm:pt modelId="{5C18D8DB-348F-4B9A-BD33-0DBEE1BA4F42}" type="sibTrans" cxnId="{5EEE85AB-EC8A-49FF-B339-E0AFA24082D0}">
      <dgm:prSet/>
      <dgm:spPr/>
      <dgm:t>
        <a:bodyPr/>
        <a:lstStyle/>
        <a:p>
          <a:endParaRPr lang="es-PE"/>
        </a:p>
      </dgm:t>
    </dgm:pt>
    <dgm:pt modelId="{8B90EAC5-1CE6-48ED-9C38-98C560A0FAD2}">
      <dgm:prSet phldrT="[Texto]"/>
      <dgm:spPr/>
      <dgm:t>
        <a:bodyPr/>
        <a:lstStyle/>
        <a:p>
          <a:r>
            <a:rPr lang="es-PE" dirty="0"/>
            <a:t>002-transferencia-cuentas-propias</a:t>
          </a:r>
        </a:p>
      </dgm:t>
    </dgm:pt>
    <dgm:pt modelId="{54F9DF96-85ED-4251-8C14-FF31085D5183}" type="parTrans" cxnId="{DDEC2ED4-E4F8-428F-80F9-A54ADF7D41CE}">
      <dgm:prSet/>
      <dgm:spPr/>
      <dgm:t>
        <a:bodyPr/>
        <a:lstStyle/>
        <a:p>
          <a:endParaRPr lang="es-PE"/>
        </a:p>
      </dgm:t>
    </dgm:pt>
    <dgm:pt modelId="{06EF5D1D-F501-4795-A87E-673D2E6D8209}" type="sibTrans" cxnId="{DDEC2ED4-E4F8-428F-80F9-A54ADF7D41CE}">
      <dgm:prSet/>
      <dgm:spPr/>
      <dgm:t>
        <a:bodyPr/>
        <a:lstStyle/>
        <a:p>
          <a:endParaRPr lang="es-PE"/>
        </a:p>
      </dgm:t>
    </dgm:pt>
    <dgm:pt modelId="{F7B845F6-7769-4EA6-8869-0DD4AEFAC05C}">
      <dgm:prSet phldrT="[Texto]"/>
      <dgm:spPr/>
      <dgm:t>
        <a:bodyPr/>
        <a:lstStyle/>
        <a:p>
          <a:r>
            <a:rPr lang="es-MX" dirty="0"/>
            <a:t>003-transferencias-terceros</a:t>
          </a:r>
          <a:endParaRPr lang="es-PE" dirty="0"/>
        </a:p>
      </dgm:t>
    </dgm:pt>
    <dgm:pt modelId="{A42817A4-631A-49E0-BD46-48073EA3357A}" type="parTrans" cxnId="{872B6ADC-7CB0-49EE-B43E-2DCC49F9D04B}">
      <dgm:prSet/>
      <dgm:spPr/>
      <dgm:t>
        <a:bodyPr/>
        <a:lstStyle/>
        <a:p>
          <a:endParaRPr lang="es-PE"/>
        </a:p>
      </dgm:t>
    </dgm:pt>
    <dgm:pt modelId="{D77BE716-E2BE-491A-8788-7770283E1433}" type="sibTrans" cxnId="{872B6ADC-7CB0-49EE-B43E-2DCC49F9D04B}">
      <dgm:prSet/>
      <dgm:spPr/>
      <dgm:t>
        <a:bodyPr/>
        <a:lstStyle/>
        <a:p>
          <a:endParaRPr lang="es-PE"/>
        </a:p>
      </dgm:t>
    </dgm:pt>
    <dgm:pt modelId="{F337874A-4ADA-4D07-B90E-202E4EB0D05E}" type="pres">
      <dgm:prSet presAssocID="{F33B2827-0E41-48B7-A091-1979AF7B3E2B}" presName="diagram" presStyleCnt="0">
        <dgm:presLayoutVars>
          <dgm:dir/>
          <dgm:resizeHandles val="exact"/>
        </dgm:presLayoutVars>
      </dgm:prSet>
      <dgm:spPr/>
    </dgm:pt>
    <dgm:pt modelId="{CEA8E5FB-B177-45A1-9125-672D0D255C8E}" type="pres">
      <dgm:prSet presAssocID="{322B291F-A870-4DE5-9CCB-9B370954A6F6}" presName="node" presStyleLbl="node1" presStyleIdx="0" presStyleCnt="3">
        <dgm:presLayoutVars>
          <dgm:bulletEnabled val="1"/>
        </dgm:presLayoutVars>
      </dgm:prSet>
      <dgm:spPr/>
    </dgm:pt>
    <dgm:pt modelId="{F31F59DE-F7C8-42FC-8812-3D1894312055}" type="pres">
      <dgm:prSet presAssocID="{5C18D8DB-348F-4B9A-BD33-0DBEE1BA4F42}" presName="sibTrans" presStyleCnt="0"/>
      <dgm:spPr/>
    </dgm:pt>
    <dgm:pt modelId="{B6566582-5F91-4106-AB30-FFB6CDE2EF16}" type="pres">
      <dgm:prSet presAssocID="{8B90EAC5-1CE6-48ED-9C38-98C560A0FAD2}" presName="node" presStyleLbl="node1" presStyleIdx="1" presStyleCnt="3">
        <dgm:presLayoutVars>
          <dgm:bulletEnabled val="1"/>
        </dgm:presLayoutVars>
      </dgm:prSet>
      <dgm:spPr/>
    </dgm:pt>
    <dgm:pt modelId="{913110A3-224C-45DD-B536-650F2231B0D9}" type="pres">
      <dgm:prSet presAssocID="{06EF5D1D-F501-4795-A87E-673D2E6D8209}" presName="sibTrans" presStyleCnt="0"/>
      <dgm:spPr/>
    </dgm:pt>
    <dgm:pt modelId="{5BE162E8-2E6D-4A60-B7E0-F49193D80586}" type="pres">
      <dgm:prSet presAssocID="{F7B845F6-7769-4EA6-8869-0DD4AEFAC05C}" presName="node" presStyleLbl="node1" presStyleIdx="2" presStyleCnt="3">
        <dgm:presLayoutVars>
          <dgm:bulletEnabled val="1"/>
        </dgm:presLayoutVars>
      </dgm:prSet>
      <dgm:spPr/>
    </dgm:pt>
  </dgm:ptLst>
  <dgm:cxnLst>
    <dgm:cxn modelId="{E8707475-434F-438D-BD3F-AFCAE42B64FA}" type="presOf" srcId="{F7B845F6-7769-4EA6-8869-0DD4AEFAC05C}" destId="{5BE162E8-2E6D-4A60-B7E0-F49193D80586}" srcOrd="0" destOrd="0" presId="urn:microsoft.com/office/officeart/2005/8/layout/default"/>
    <dgm:cxn modelId="{5EEE85AB-EC8A-49FF-B339-E0AFA24082D0}" srcId="{F33B2827-0E41-48B7-A091-1979AF7B3E2B}" destId="{322B291F-A870-4DE5-9CCB-9B370954A6F6}" srcOrd="0" destOrd="0" parTransId="{60F250FA-DCE9-4705-8B5B-0D2505B9D78E}" sibTransId="{5C18D8DB-348F-4B9A-BD33-0DBEE1BA4F42}"/>
    <dgm:cxn modelId="{50E3C7C8-5EC9-4B08-B90D-393993863492}" type="presOf" srcId="{F33B2827-0E41-48B7-A091-1979AF7B3E2B}" destId="{F337874A-4ADA-4D07-B90E-202E4EB0D05E}" srcOrd="0" destOrd="0" presId="urn:microsoft.com/office/officeart/2005/8/layout/default"/>
    <dgm:cxn modelId="{DDEC2ED4-E4F8-428F-80F9-A54ADF7D41CE}" srcId="{F33B2827-0E41-48B7-A091-1979AF7B3E2B}" destId="{8B90EAC5-1CE6-48ED-9C38-98C560A0FAD2}" srcOrd="1" destOrd="0" parTransId="{54F9DF96-85ED-4251-8C14-FF31085D5183}" sibTransId="{06EF5D1D-F501-4795-A87E-673D2E6D8209}"/>
    <dgm:cxn modelId="{872B6ADC-7CB0-49EE-B43E-2DCC49F9D04B}" srcId="{F33B2827-0E41-48B7-A091-1979AF7B3E2B}" destId="{F7B845F6-7769-4EA6-8869-0DD4AEFAC05C}" srcOrd="2" destOrd="0" parTransId="{A42817A4-631A-49E0-BD46-48073EA3357A}" sibTransId="{D77BE716-E2BE-491A-8788-7770283E1433}"/>
    <dgm:cxn modelId="{DBEB6EDF-965A-481B-BB05-9FA9E87F2BFB}" type="presOf" srcId="{8B90EAC5-1CE6-48ED-9C38-98C560A0FAD2}" destId="{B6566582-5F91-4106-AB30-FFB6CDE2EF16}" srcOrd="0" destOrd="0" presId="urn:microsoft.com/office/officeart/2005/8/layout/default"/>
    <dgm:cxn modelId="{11DBCEFC-BA74-492E-83A8-B2DCA709A0F0}" type="presOf" srcId="{322B291F-A870-4DE5-9CCB-9B370954A6F6}" destId="{CEA8E5FB-B177-45A1-9125-672D0D255C8E}" srcOrd="0" destOrd="0" presId="urn:microsoft.com/office/officeart/2005/8/layout/default"/>
    <dgm:cxn modelId="{19755657-F984-4F39-B3A7-CCC44BD3438D}" type="presParOf" srcId="{F337874A-4ADA-4D07-B90E-202E4EB0D05E}" destId="{CEA8E5FB-B177-45A1-9125-672D0D255C8E}" srcOrd="0" destOrd="0" presId="urn:microsoft.com/office/officeart/2005/8/layout/default"/>
    <dgm:cxn modelId="{0E019881-DE8B-460C-99A6-BFAD38D58E05}" type="presParOf" srcId="{F337874A-4ADA-4D07-B90E-202E4EB0D05E}" destId="{F31F59DE-F7C8-42FC-8812-3D1894312055}" srcOrd="1" destOrd="0" presId="urn:microsoft.com/office/officeart/2005/8/layout/default"/>
    <dgm:cxn modelId="{F0A43A88-A70C-424F-8889-02CFFF87916B}" type="presParOf" srcId="{F337874A-4ADA-4D07-B90E-202E4EB0D05E}" destId="{B6566582-5F91-4106-AB30-FFB6CDE2EF16}" srcOrd="2" destOrd="0" presId="urn:microsoft.com/office/officeart/2005/8/layout/default"/>
    <dgm:cxn modelId="{45738CC6-7544-4B8B-B146-A9A957105150}" type="presParOf" srcId="{F337874A-4ADA-4D07-B90E-202E4EB0D05E}" destId="{913110A3-224C-45DD-B536-650F2231B0D9}" srcOrd="3" destOrd="0" presId="urn:microsoft.com/office/officeart/2005/8/layout/default"/>
    <dgm:cxn modelId="{64E0DC59-6272-4C10-9600-AEC597B46DE3}" type="presParOf" srcId="{F337874A-4ADA-4D07-B90E-202E4EB0D05E}" destId="{5BE162E8-2E6D-4A60-B7E0-F49193D8058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3B2827-0E41-48B7-A091-1979AF7B3E2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4892EB87-D2AB-4463-895E-BB00335A9720}">
      <dgm:prSet phldrT="[Texto]"/>
      <dgm:spPr>
        <a:solidFill>
          <a:srgbClr val="CC66FF"/>
        </a:solidFill>
      </dgm:spPr>
      <dgm:t>
        <a:bodyPr/>
        <a:lstStyle/>
        <a:p>
          <a:r>
            <a:rPr lang="es-PE" dirty="0"/>
            <a:t>Diseño arquitectónico</a:t>
          </a:r>
        </a:p>
      </dgm:t>
    </dgm:pt>
    <dgm:pt modelId="{05BA008F-9CC2-40F3-B156-ECBA3C4BCD56}" type="parTrans" cxnId="{2A091896-A566-4A08-8B52-7DFE4DF8A6E7}">
      <dgm:prSet/>
      <dgm:spPr/>
      <dgm:t>
        <a:bodyPr/>
        <a:lstStyle/>
        <a:p>
          <a:endParaRPr lang="es-PE"/>
        </a:p>
      </dgm:t>
    </dgm:pt>
    <dgm:pt modelId="{1979B160-5FF8-4A08-8E03-6C7A217DAB46}" type="sibTrans" cxnId="{2A091896-A566-4A08-8B52-7DFE4DF8A6E7}">
      <dgm:prSet/>
      <dgm:spPr/>
      <dgm:t>
        <a:bodyPr/>
        <a:lstStyle/>
        <a:p>
          <a:endParaRPr lang="es-PE"/>
        </a:p>
      </dgm:t>
    </dgm:pt>
    <dgm:pt modelId="{748A05CD-D0F6-41B6-9C70-7BA44D58B8AA}">
      <dgm:prSet phldrT="[Texto]"/>
      <dgm:spPr>
        <a:solidFill>
          <a:srgbClr val="00B050"/>
        </a:solidFill>
      </dgm:spPr>
      <dgm:t>
        <a:bodyPr/>
        <a:lstStyle/>
        <a:p>
          <a:r>
            <a:rPr lang="es-PE" dirty="0"/>
            <a:t>Generación de código</a:t>
          </a:r>
        </a:p>
      </dgm:t>
    </dgm:pt>
    <dgm:pt modelId="{31A03D6A-7FDC-40B5-8C05-708B61F102B7}" type="parTrans" cxnId="{A8CD410F-359B-42DB-80CA-BC3AA967DC2B}">
      <dgm:prSet/>
      <dgm:spPr/>
      <dgm:t>
        <a:bodyPr/>
        <a:lstStyle/>
        <a:p>
          <a:endParaRPr lang="es-PE"/>
        </a:p>
      </dgm:t>
    </dgm:pt>
    <dgm:pt modelId="{DF22FD5C-B7B4-4FA0-8965-77481E152E42}" type="sibTrans" cxnId="{A8CD410F-359B-42DB-80CA-BC3AA967DC2B}">
      <dgm:prSet/>
      <dgm:spPr/>
      <dgm:t>
        <a:bodyPr/>
        <a:lstStyle/>
        <a:p>
          <a:endParaRPr lang="es-PE"/>
        </a:p>
      </dgm:t>
    </dgm:pt>
    <dgm:pt modelId="{322B291F-A870-4DE5-9CCB-9B370954A6F6}">
      <dgm:prSet phldrT="[Texto]"/>
      <dgm:spPr/>
      <dgm:t>
        <a:bodyPr/>
        <a:lstStyle/>
        <a:p>
          <a:r>
            <a:rPr lang="es-PE" dirty="0"/>
            <a:t>Debugging</a:t>
          </a:r>
        </a:p>
      </dgm:t>
    </dgm:pt>
    <dgm:pt modelId="{60F250FA-DCE9-4705-8B5B-0D2505B9D78E}" type="parTrans" cxnId="{5EEE85AB-EC8A-49FF-B339-E0AFA24082D0}">
      <dgm:prSet/>
      <dgm:spPr/>
      <dgm:t>
        <a:bodyPr/>
        <a:lstStyle/>
        <a:p>
          <a:endParaRPr lang="es-PE"/>
        </a:p>
      </dgm:t>
    </dgm:pt>
    <dgm:pt modelId="{5C18D8DB-348F-4B9A-BD33-0DBEE1BA4F42}" type="sibTrans" cxnId="{5EEE85AB-EC8A-49FF-B339-E0AFA24082D0}">
      <dgm:prSet/>
      <dgm:spPr/>
      <dgm:t>
        <a:bodyPr/>
        <a:lstStyle/>
        <a:p>
          <a:endParaRPr lang="es-PE"/>
        </a:p>
      </dgm:t>
    </dgm:pt>
    <dgm:pt modelId="{8B90EAC5-1CE6-48ED-9C38-98C560A0FAD2}">
      <dgm:prSet phldrT="[Texto]"/>
      <dgm:spPr>
        <a:solidFill>
          <a:srgbClr val="00B0F0"/>
        </a:solidFill>
      </dgm:spPr>
      <dgm:t>
        <a:bodyPr/>
        <a:lstStyle/>
        <a:p>
          <a:r>
            <a:rPr lang="es-PE" dirty="0"/>
            <a:t>Refactorización</a:t>
          </a:r>
        </a:p>
      </dgm:t>
    </dgm:pt>
    <dgm:pt modelId="{54F9DF96-85ED-4251-8C14-FF31085D5183}" type="parTrans" cxnId="{DDEC2ED4-E4F8-428F-80F9-A54ADF7D41CE}">
      <dgm:prSet/>
      <dgm:spPr/>
      <dgm:t>
        <a:bodyPr/>
        <a:lstStyle/>
        <a:p>
          <a:endParaRPr lang="es-PE"/>
        </a:p>
      </dgm:t>
    </dgm:pt>
    <dgm:pt modelId="{06EF5D1D-F501-4795-A87E-673D2E6D8209}" type="sibTrans" cxnId="{DDEC2ED4-E4F8-428F-80F9-A54ADF7D41CE}">
      <dgm:prSet/>
      <dgm:spPr/>
      <dgm:t>
        <a:bodyPr/>
        <a:lstStyle/>
        <a:p>
          <a:endParaRPr lang="es-PE"/>
        </a:p>
      </dgm:t>
    </dgm:pt>
    <dgm:pt modelId="{F7B845F6-7769-4EA6-8869-0DD4AEFAC05C}">
      <dgm:prSet phldrT="[Texto]"/>
      <dgm:spPr>
        <a:solidFill>
          <a:srgbClr val="FFC000"/>
        </a:solidFill>
      </dgm:spPr>
      <dgm:t>
        <a:bodyPr/>
        <a:lstStyle/>
        <a:p>
          <a:r>
            <a:rPr lang="es-PE" dirty="0"/>
            <a:t>Documentación</a:t>
          </a:r>
        </a:p>
      </dgm:t>
    </dgm:pt>
    <dgm:pt modelId="{A42817A4-631A-49E0-BD46-48073EA3357A}" type="parTrans" cxnId="{872B6ADC-7CB0-49EE-B43E-2DCC49F9D04B}">
      <dgm:prSet/>
      <dgm:spPr/>
      <dgm:t>
        <a:bodyPr/>
        <a:lstStyle/>
        <a:p>
          <a:endParaRPr lang="es-PE"/>
        </a:p>
      </dgm:t>
    </dgm:pt>
    <dgm:pt modelId="{D77BE716-E2BE-491A-8788-7770283E1433}" type="sibTrans" cxnId="{872B6ADC-7CB0-49EE-B43E-2DCC49F9D04B}">
      <dgm:prSet/>
      <dgm:spPr/>
      <dgm:t>
        <a:bodyPr/>
        <a:lstStyle/>
        <a:p>
          <a:endParaRPr lang="es-PE"/>
        </a:p>
      </dgm:t>
    </dgm:pt>
    <dgm:pt modelId="{F337874A-4ADA-4D07-B90E-202E4EB0D05E}" type="pres">
      <dgm:prSet presAssocID="{F33B2827-0E41-48B7-A091-1979AF7B3E2B}" presName="diagram" presStyleCnt="0">
        <dgm:presLayoutVars>
          <dgm:dir/>
          <dgm:resizeHandles val="exact"/>
        </dgm:presLayoutVars>
      </dgm:prSet>
      <dgm:spPr/>
    </dgm:pt>
    <dgm:pt modelId="{CE286AE2-A66E-4032-84CE-FA1CA9C87EC0}" type="pres">
      <dgm:prSet presAssocID="{4892EB87-D2AB-4463-895E-BB00335A9720}" presName="node" presStyleLbl="node1" presStyleIdx="0" presStyleCnt="5">
        <dgm:presLayoutVars>
          <dgm:bulletEnabled val="1"/>
        </dgm:presLayoutVars>
      </dgm:prSet>
      <dgm:spPr/>
    </dgm:pt>
    <dgm:pt modelId="{46069982-3003-4233-B44B-0723F8B8D2FF}" type="pres">
      <dgm:prSet presAssocID="{1979B160-5FF8-4A08-8E03-6C7A217DAB46}" presName="sibTrans" presStyleCnt="0"/>
      <dgm:spPr/>
    </dgm:pt>
    <dgm:pt modelId="{4AAB63D6-86D8-4D35-93E0-2893141DDE91}" type="pres">
      <dgm:prSet presAssocID="{748A05CD-D0F6-41B6-9C70-7BA44D58B8AA}" presName="node" presStyleLbl="node1" presStyleIdx="1" presStyleCnt="5">
        <dgm:presLayoutVars>
          <dgm:bulletEnabled val="1"/>
        </dgm:presLayoutVars>
      </dgm:prSet>
      <dgm:spPr/>
    </dgm:pt>
    <dgm:pt modelId="{2384B8BA-9873-4B49-BCEE-F0794603A4CA}" type="pres">
      <dgm:prSet presAssocID="{DF22FD5C-B7B4-4FA0-8965-77481E152E42}" presName="sibTrans" presStyleCnt="0"/>
      <dgm:spPr/>
    </dgm:pt>
    <dgm:pt modelId="{CEA8E5FB-B177-45A1-9125-672D0D255C8E}" type="pres">
      <dgm:prSet presAssocID="{322B291F-A870-4DE5-9CCB-9B370954A6F6}" presName="node" presStyleLbl="node1" presStyleIdx="2" presStyleCnt="5">
        <dgm:presLayoutVars>
          <dgm:bulletEnabled val="1"/>
        </dgm:presLayoutVars>
      </dgm:prSet>
      <dgm:spPr/>
    </dgm:pt>
    <dgm:pt modelId="{F31F59DE-F7C8-42FC-8812-3D1894312055}" type="pres">
      <dgm:prSet presAssocID="{5C18D8DB-348F-4B9A-BD33-0DBEE1BA4F42}" presName="sibTrans" presStyleCnt="0"/>
      <dgm:spPr/>
    </dgm:pt>
    <dgm:pt modelId="{B6566582-5F91-4106-AB30-FFB6CDE2EF16}" type="pres">
      <dgm:prSet presAssocID="{8B90EAC5-1CE6-48ED-9C38-98C560A0FAD2}" presName="node" presStyleLbl="node1" presStyleIdx="3" presStyleCnt="5">
        <dgm:presLayoutVars>
          <dgm:bulletEnabled val="1"/>
        </dgm:presLayoutVars>
      </dgm:prSet>
      <dgm:spPr/>
    </dgm:pt>
    <dgm:pt modelId="{913110A3-224C-45DD-B536-650F2231B0D9}" type="pres">
      <dgm:prSet presAssocID="{06EF5D1D-F501-4795-A87E-673D2E6D8209}" presName="sibTrans" presStyleCnt="0"/>
      <dgm:spPr/>
    </dgm:pt>
    <dgm:pt modelId="{5BE162E8-2E6D-4A60-B7E0-F49193D80586}" type="pres">
      <dgm:prSet presAssocID="{F7B845F6-7769-4EA6-8869-0DD4AEFAC05C}" presName="node" presStyleLbl="node1" presStyleIdx="4" presStyleCnt="5">
        <dgm:presLayoutVars>
          <dgm:bulletEnabled val="1"/>
        </dgm:presLayoutVars>
      </dgm:prSet>
      <dgm:spPr/>
    </dgm:pt>
  </dgm:ptLst>
  <dgm:cxnLst>
    <dgm:cxn modelId="{A8CD410F-359B-42DB-80CA-BC3AA967DC2B}" srcId="{F33B2827-0E41-48B7-A091-1979AF7B3E2B}" destId="{748A05CD-D0F6-41B6-9C70-7BA44D58B8AA}" srcOrd="1" destOrd="0" parTransId="{31A03D6A-7FDC-40B5-8C05-708B61F102B7}" sibTransId="{DF22FD5C-B7B4-4FA0-8965-77481E152E42}"/>
    <dgm:cxn modelId="{9E2B5C23-BE05-4D06-9682-C404859A31F4}" type="presOf" srcId="{4892EB87-D2AB-4463-895E-BB00335A9720}" destId="{CE286AE2-A66E-4032-84CE-FA1CA9C87EC0}" srcOrd="0" destOrd="0" presId="urn:microsoft.com/office/officeart/2005/8/layout/default"/>
    <dgm:cxn modelId="{31C81D2D-61E9-4131-91D4-C45B661B4318}" type="presOf" srcId="{748A05CD-D0F6-41B6-9C70-7BA44D58B8AA}" destId="{4AAB63D6-86D8-4D35-93E0-2893141DDE91}" srcOrd="0" destOrd="0" presId="urn:microsoft.com/office/officeart/2005/8/layout/default"/>
    <dgm:cxn modelId="{E8707475-434F-438D-BD3F-AFCAE42B64FA}" type="presOf" srcId="{F7B845F6-7769-4EA6-8869-0DD4AEFAC05C}" destId="{5BE162E8-2E6D-4A60-B7E0-F49193D80586}" srcOrd="0" destOrd="0" presId="urn:microsoft.com/office/officeart/2005/8/layout/default"/>
    <dgm:cxn modelId="{2A091896-A566-4A08-8B52-7DFE4DF8A6E7}" srcId="{F33B2827-0E41-48B7-A091-1979AF7B3E2B}" destId="{4892EB87-D2AB-4463-895E-BB00335A9720}" srcOrd="0" destOrd="0" parTransId="{05BA008F-9CC2-40F3-B156-ECBA3C4BCD56}" sibTransId="{1979B160-5FF8-4A08-8E03-6C7A217DAB46}"/>
    <dgm:cxn modelId="{5EEE85AB-EC8A-49FF-B339-E0AFA24082D0}" srcId="{F33B2827-0E41-48B7-A091-1979AF7B3E2B}" destId="{322B291F-A870-4DE5-9CCB-9B370954A6F6}" srcOrd="2" destOrd="0" parTransId="{60F250FA-DCE9-4705-8B5B-0D2505B9D78E}" sibTransId="{5C18D8DB-348F-4B9A-BD33-0DBEE1BA4F42}"/>
    <dgm:cxn modelId="{50E3C7C8-5EC9-4B08-B90D-393993863492}" type="presOf" srcId="{F33B2827-0E41-48B7-A091-1979AF7B3E2B}" destId="{F337874A-4ADA-4D07-B90E-202E4EB0D05E}" srcOrd="0" destOrd="0" presId="urn:microsoft.com/office/officeart/2005/8/layout/default"/>
    <dgm:cxn modelId="{DDEC2ED4-E4F8-428F-80F9-A54ADF7D41CE}" srcId="{F33B2827-0E41-48B7-A091-1979AF7B3E2B}" destId="{8B90EAC5-1CE6-48ED-9C38-98C560A0FAD2}" srcOrd="3" destOrd="0" parTransId="{54F9DF96-85ED-4251-8C14-FF31085D5183}" sibTransId="{06EF5D1D-F501-4795-A87E-673D2E6D8209}"/>
    <dgm:cxn modelId="{872B6ADC-7CB0-49EE-B43E-2DCC49F9D04B}" srcId="{F33B2827-0E41-48B7-A091-1979AF7B3E2B}" destId="{F7B845F6-7769-4EA6-8869-0DD4AEFAC05C}" srcOrd="4" destOrd="0" parTransId="{A42817A4-631A-49E0-BD46-48073EA3357A}" sibTransId="{D77BE716-E2BE-491A-8788-7770283E1433}"/>
    <dgm:cxn modelId="{DBEB6EDF-965A-481B-BB05-9FA9E87F2BFB}" type="presOf" srcId="{8B90EAC5-1CE6-48ED-9C38-98C560A0FAD2}" destId="{B6566582-5F91-4106-AB30-FFB6CDE2EF16}" srcOrd="0" destOrd="0" presId="urn:microsoft.com/office/officeart/2005/8/layout/default"/>
    <dgm:cxn modelId="{11DBCEFC-BA74-492E-83A8-B2DCA709A0F0}" type="presOf" srcId="{322B291F-A870-4DE5-9CCB-9B370954A6F6}" destId="{CEA8E5FB-B177-45A1-9125-672D0D255C8E}" srcOrd="0" destOrd="0" presId="urn:microsoft.com/office/officeart/2005/8/layout/default"/>
    <dgm:cxn modelId="{726B12CC-5A38-4389-920B-37F808565B34}" type="presParOf" srcId="{F337874A-4ADA-4D07-B90E-202E4EB0D05E}" destId="{CE286AE2-A66E-4032-84CE-FA1CA9C87EC0}" srcOrd="0" destOrd="0" presId="urn:microsoft.com/office/officeart/2005/8/layout/default"/>
    <dgm:cxn modelId="{B620FD82-3B74-4CAD-A385-59A2E14B8B72}" type="presParOf" srcId="{F337874A-4ADA-4D07-B90E-202E4EB0D05E}" destId="{46069982-3003-4233-B44B-0723F8B8D2FF}" srcOrd="1" destOrd="0" presId="urn:microsoft.com/office/officeart/2005/8/layout/default"/>
    <dgm:cxn modelId="{A53446B8-B244-4940-9DE0-1FCE8A1C5FA5}" type="presParOf" srcId="{F337874A-4ADA-4D07-B90E-202E4EB0D05E}" destId="{4AAB63D6-86D8-4D35-93E0-2893141DDE91}" srcOrd="2" destOrd="0" presId="urn:microsoft.com/office/officeart/2005/8/layout/default"/>
    <dgm:cxn modelId="{5BC71748-FD49-41BE-B585-ED67D049E7A6}" type="presParOf" srcId="{F337874A-4ADA-4D07-B90E-202E4EB0D05E}" destId="{2384B8BA-9873-4B49-BCEE-F0794603A4CA}" srcOrd="3" destOrd="0" presId="urn:microsoft.com/office/officeart/2005/8/layout/default"/>
    <dgm:cxn modelId="{19755657-F984-4F39-B3A7-CCC44BD3438D}" type="presParOf" srcId="{F337874A-4ADA-4D07-B90E-202E4EB0D05E}" destId="{CEA8E5FB-B177-45A1-9125-672D0D255C8E}" srcOrd="4" destOrd="0" presId="urn:microsoft.com/office/officeart/2005/8/layout/default"/>
    <dgm:cxn modelId="{0E019881-DE8B-460C-99A6-BFAD38D58E05}" type="presParOf" srcId="{F337874A-4ADA-4D07-B90E-202E4EB0D05E}" destId="{F31F59DE-F7C8-42FC-8812-3D1894312055}" srcOrd="5" destOrd="0" presId="urn:microsoft.com/office/officeart/2005/8/layout/default"/>
    <dgm:cxn modelId="{F0A43A88-A70C-424F-8889-02CFFF87916B}" type="presParOf" srcId="{F337874A-4ADA-4D07-B90E-202E4EB0D05E}" destId="{B6566582-5F91-4106-AB30-FFB6CDE2EF16}" srcOrd="6" destOrd="0" presId="urn:microsoft.com/office/officeart/2005/8/layout/default"/>
    <dgm:cxn modelId="{45738CC6-7544-4B8B-B146-A9A957105150}" type="presParOf" srcId="{F337874A-4ADA-4D07-B90E-202E4EB0D05E}" destId="{913110A3-224C-45DD-B536-650F2231B0D9}" srcOrd="7" destOrd="0" presId="urn:microsoft.com/office/officeart/2005/8/layout/default"/>
    <dgm:cxn modelId="{64E0DC59-6272-4C10-9600-AEC597B46DE3}" type="presParOf" srcId="{F337874A-4ADA-4D07-B90E-202E4EB0D05E}" destId="{5BE162E8-2E6D-4A60-B7E0-F49193D8058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8E5FB-B177-45A1-9125-672D0D255C8E}">
      <dsp:nvSpPr>
        <dsp:cNvPr id="0" name=""/>
        <dsp:cNvSpPr/>
      </dsp:nvSpPr>
      <dsp:spPr>
        <a:xfrm>
          <a:off x="1230" y="270394"/>
          <a:ext cx="4800777" cy="2880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5300" kern="1200" dirty="0"/>
            <a:t>001-consulta-productos-bancarios</a:t>
          </a:r>
        </a:p>
      </dsp:txBody>
      <dsp:txXfrm>
        <a:off x="1230" y="270394"/>
        <a:ext cx="4800777" cy="2880466"/>
      </dsp:txXfrm>
    </dsp:sp>
    <dsp:sp modelId="{B6566582-5F91-4106-AB30-FFB6CDE2EF16}">
      <dsp:nvSpPr>
        <dsp:cNvPr id="0" name=""/>
        <dsp:cNvSpPr/>
      </dsp:nvSpPr>
      <dsp:spPr>
        <a:xfrm>
          <a:off x="5282086" y="270394"/>
          <a:ext cx="4800777" cy="2880466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5300" kern="1200" dirty="0"/>
            <a:t>002-transferencia-cuentas-propias</a:t>
          </a:r>
        </a:p>
      </dsp:txBody>
      <dsp:txXfrm>
        <a:off x="5282086" y="270394"/>
        <a:ext cx="4800777" cy="2880466"/>
      </dsp:txXfrm>
    </dsp:sp>
    <dsp:sp modelId="{5BE162E8-2E6D-4A60-B7E0-F49193D80586}">
      <dsp:nvSpPr>
        <dsp:cNvPr id="0" name=""/>
        <dsp:cNvSpPr/>
      </dsp:nvSpPr>
      <dsp:spPr>
        <a:xfrm>
          <a:off x="2641658" y="3630938"/>
          <a:ext cx="4800777" cy="2880466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300" kern="1200" dirty="0"/>
            <a:t>003-transferencias-terceros</a:t>
          </a:r>
          <a:endParaRPr lang="es-PE" sz="5300" kern="1200" dirty="0"/>
        </a:p>
      </dsp:txBody>
      <dsp:txXfrm>
        <a:off x="2641658" y="3630938"/>
        <a:ext cx="4800777" cy="2880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86AE2-A66E-4032-84CE-FA1CA9C87EC0}">
      <dsp:nvSpPr>
        <dsp:cNvPr id="0" name=""/>
        <dsp:cNvSpPr/>
      </dsp:nvSpPr>
      <dsp:spPr>
        <a:xfrm>
          <a:off x="1932228" y="3150"/>
          <a:ext cx="3781449" cy="2268869"/>
        </a:xfrm>
        <a:prstGeom prst="rect">
          <a:avLst/>
        </a:prstGeom>
        <a:solidFill>
          <a:srgbClr val="CC66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4200" kern="1200" dirty="0"/>
            <a:t>Diseño arquitectónico</a:t>
          </a:r>
        </a:p>
      </dsp:txBody>
      <dsp:txXfrm>
        <a:off x="1932228" y="3150"/>
        <a:ext cx="3781449" cy="2268869"/>
      </dsp:txXfrm>
    </dsp:sp>
    <dsp:sp modelId="{4AAB63D6-86D8-4D35-93E0-2893141DDE91}">
      <dsp:nvSpPr>
        <dsp:cNvPr id="0" name=""/>
        <dsp:cNvSpPr/>
      </dsp:nvSpPr>
      <dsp:spPr>
        <a:xfrm>
          <a:off x="6091823" y="3150"/>
          <a:ext cx="3781449" cy="226886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4200" kern="1200" dirty="0"/>
            <a:t>Generación de código</a:t>
          </a:r>
        </a:p>
      </dsp:txBody>
      <dsp:txXfrm>
        <a:off x="6091823" y="3150"/>
        <a:ext cx="3781449" cy="2268869"/>
      </dsp:txXfrm>
    </dsp:sp>
    <dsp:sp modelId="{CEA8E5FB-B177-45A1-9125-672D0D255C8E}">
      <dsp:nvSpPr>
        <dsp:cNvPr id="0" name=""/>
        <dsp:cNvSpPr/>
      </dsp:nvSpPr>
      <dsp:spPr>
        <a:xfrm>
          <a:off x="1932228" y="2650165"/>
          <a:ext cx="3781449" cy="22688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4200" kern="1200" dirty="0"/>
            <a:t>Debugging</a:t>
          </a:r>
        </a:p>
      </dsp:txBody>
      <dsp:txXfrm>
        <a:off x="1932228" y="2650165"/>
        <a:ext cx="3781449" cy="2268869"/>
      </dsp:txXfrm>
    </dsp:sp>
    <dsp:sp modelId="{B6566582-5F91-4106-AB30-FFB6CDE2EF16}">
      <dsp:nvSpPr>
        <dsp:cNvPr id="0" name=""/>
        <dsp:cNvSpPr/>
      </dsp:nvSpPr>
      <dsp:spPr>
        <a:xfrm>
          <a:off x="6091823" y="2650165"/>
          <a:ext cx="3781449" cy="2268869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4200" kern="1200" dirty="0"/>
            <a:t>Refactorización</a:t>
          </a:r>
        </a:p>
      </dsp:txBody>
      <dsp:txXfrm>
        <a:off x="6091823" y="2650165"/>
        <a:ext cx="3781449" cy="2268869"/>
      </dsp:txXfrm>
    </dsp:sp>
    <dsp:sp modelId="{5BE162E8-2E6D-4A60-B7E0-F49193D80586}">
      <dsp:nvSpPr>
        <dsp:cNvPr id="0" name=""/>
        <dsp:cNvSpPr/>
      </dsp:nvSpPr>
      <dsp:spPr>
        <a:xfrm>
          <a:off x="4012026" y="5297179"/>
          <a:ext cx="3781449" cy="2268869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4200" kern="1200" dirty="0"/>
            <a:t>Documentación</a:t>
          </a:r>
        </a:p>
      </dsp:txBody>
      <dsp:txXfrm>
        <a:off x="4012026" y="5297179"/>
        <a:ext cx="3781449" cy="2268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13405" r="-11951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4792" y="8401082"/>
            <a:ext cx="4176257" cy="545802"/>
            <a:chOff x="0" y="0"/>
            <a:chExt cx="1099919" cy="143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9919" cy="143750"/>
            </a:xfrm>
            <a:custGeom>
              <a:avLst/>
              <a:gdLst/>
              <a:ahLst/>
              <a:cxnLst/>
              <a:rect l="l" t="t" r="r" b="b"/>
              <a:pathLst>
                <a:path w="1099919" h="143750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Septiembre</a:t>
              </a:r>
              <a:r>
                <a:rPr lang="en-US" sz="18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71559" y="1123096"/>
            <a:ext cx="8795646" cy="453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8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 SPEC DRIVEN DEVELOPMENT WITH .NET 10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7766" y="7109187"/>
            <a:ext cx="11830234" cy="3177813"/>
            <a:chOff x="0" y="0"/>
            <a:chExt cx="9347345" cy="2510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47345" cy="2510865"/>
            </a:xfrm>
            <a:custGeom>
              <a:avLst/>
              <a:gdLst/>
              <a:ahLst/>
              <a:cxnLst/>
              <a:rect l="l" t="t" r="r" b="b"/>
              <a:pathLst>
                <a:path w="9347345" h="2510865">
                  <a:moveTo>
                    <a:pt x="0" y="0"/>
                  </a:moveTo>
                  <a:lnTo>
                    <a:pt x="9347345" y="0"/>
                  </a:lnTo>
                  <a:lnTo>
                    <a:pt x="9347345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347345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0"/>
            <a:ext cx="5429066" cy="10287000"/>
            <a:chOff x="0" y="0"/>
            <a:chExt cx="7238755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7004" r="49284"/>
            <a:stretch>
              <a:fillRect/>
            </a:stretch>
          </p:blipFill>
          <p:spPr>
            <a:xfrm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7259300" y="0"/>
            <a:ext cx="1694792" cy="10287000"/>
            <a:chOff x="0" y="0"/>
            <a:chExt cx="446365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109187"/>
            <a:ext cx="1028700" cy="3177813"/>
            <a:chOff x="0" y="0"/>
            <a:chExt cx="812800" cy="2510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028700" cy="102870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97118" y="692526"/>
            <a:ext cx="7494647" cy="117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CONTENIDO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297118" y="2384162"/>
            <a:ext cx="969409" cy="96940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97118" y="3565108"/>
            <a:ext cx="969409" cy="96940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97118" y="4746054"/>
            <a:ext cx="969409" cy="96940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97118" y="5927000"/>
            <a:ext cx="969409" cy="96940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97118" y="7107945"/>
            <a:ext cx="969409" cy="96940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011231" y="1028700"/>
            <a:ext cx="1652841" cy="165284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814124" y="816351"/>
            <a:ext cx="771724" cy="771724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919457" y="8414693"/>
            <a:ext cx="3744615" cy="3744615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8485829" y="2633916"/>
            <a:ext cx="7351823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Problema</a:t>
            </a:r>
            <a:endParaRPr lang="en-US" sz="24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485829" y="3814862"/>
            <a:ext cx="7351823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Especificaciones</a:t>
            </a:r>
            <a:r>
              <a:rPr lang="en-US" sz="24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y </a:t>
            </a: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arquitectura</a:t>
            </a:r>
            <a:endParaRPr lang="en-US" sz="24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485829" y="4995808"/>
            <a:ext cx="7351823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Uso</a:t>
            </a:r>
            <a:r>
              <a:rPr lang="en-US" sz="24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IA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85829" y="6176754"/>
            <a:ext cx="7351823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Demo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85829" y="7357700"/>
            <a:ext cx="7351823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Lecciones</a:t>
            </a:r>
            <a:r>
              <a:rPr lang="en-US" sz="24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aprendidas</a:t>
            </a:r>
            <a:endParaRPr lang="en-US" sz="24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16626" y="1908721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839945" y="744695"/>
            <a:ext cx="4568944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8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PROBLEMA</a:t>
            </a: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655F031C-902C-43F5-B8DF-73514DE204A8}"/>
              </a:ext>
            </a:extLst>
          </p:cNvPr>
          <p:cNvSpPr txBox="1"/>
          <p:nvPr/>
        </p:nvSpPr>
        <p:spPr>
          <a:xfrm>
            <a:off x="912144" y="2449819"/>
            <a:ext cx="4492263" cy="4959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874"/>
              </a:lnSpc>
            </a:pP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caso de estudio consiste en el desarrollo de un sistema de transferencias bancarias que modela las operaciones fundamentales de una entidad financiera, incluyendo la consulta cuentas bancarias y transferencias monetarias entre cuentas internas y de terceros.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AutoShape 6" descr="Imagen 2">
            <a:extLst>
              <a:ext uri="{FF2B5EF4-FFF2-40B4-BE49-F238E27FC236}">
                <a16:creationId xmlns:a16="http://schemas.microsoft.com/office/drawing/2014/main" id="{FF187B21-60AC-FED0-0ADB-1FE9F0ABC8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5257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1" name="Imagen 10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8D1A368-4902-557C-1A9F-6CE3E6F1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055" y="1221736"/>
            <a:ext cx="9906000" cy="7843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E829-E635-24C5-B63C-5005A308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FF6FC5-21D1-E07D-63AD-A51AA8A5BDFE}"/>
              </a:ext>
            </a:extLst>
          </p:cNvPr>
          <p:cNvGrpSpPr/>
          <p:nvPr/>
        </p:nvGrpSpPr>
        <p:grpSpPr>
          <a:xfrm>
            <a:off x="3798572" y="-3621334"/>
            <a:ext cx="6460278" cy="6460278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E1DF86-4060-C710-C856-B52DF1EED4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EBE6B50-8CD8-7656-9472-BD82ACD1D7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4983EE9-5666-76B2-BE05-A396A225504F}"/>
              </a:ext>
            </a:extLst>
          </p:cNvPr>
          <p:cNvGrpSpPr/>
          <p:nvPr/>
        </p:nvGrpSpPr>
        <p:grpSpPr>
          <a:xfrm>
            <a:off x="0" y="0"/>
            <a:ext cx="6534650" cy="10287000"/>
            <a:chOff x="0" y="0"/>
            <a:chExt cx="1721060" cy="27093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401EF1D-866C-FD05-AE17-7E161F1F5677}"/>
                </a:ext>
              </a:extLst>
            </p:cNvPr>
            <p:cNvSpPr/>
            <p:nvPr/>
          </p:nvSpPr>
          <p:spPr>
            <a:xfrm>
              <a:off x="0" y="0"/>
              <a:ext cx="1721060" cy="2709333"/>
            </a:xfrm>
            <a:custGeom>
              <a:avLst/>
              <a:gdLst/>
              <a:ahLst/>
              <a:cxnLst/>
              <a:rect l="l" t="t" r="r" b="b"/>
              <a:pathLst>
                <a:path w="1721060" h="2709333">
                  <a:moveTo>
                    <a:pt x="0" y="0"/>
                  </a:moveTo>
                  <a:lnTo>
                    <a:pt x="1721060" y="0"/>
                  </a:lnTo>
                  <a:lnTo>
                    <a:pt x="17210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44A3EBE-94E9-F0E2-DF38-BDF3DAEBD81A}"/>
                </a:ext>
              </a:extLst>
            </p:cNvPr>
            <p:cNvSpPr txBox="1"/>
            <p:nvPr/>
          </p:nvSpPr>
          <p:spPr>
            <a:xfrm>
              <a:off x="0" y="-38100"/>
              <a:ext cx="172106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BCEA83B0-E936-6652-39E7-030E45BA670D}"/>
              </a:ext>
            </a:extLst>
          </p:cNvPr>
          <p:cNvSpPr/>
          <p:nvPr/>
        </p:nvSpPr>
        <p:spPr>
          <a:xfrm>
            <a:off x="916626" y="1732921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52D639-B199-09F7-6D0C-31BF8477E2B1}"/>
              </a:ext>
            </a:extLst>
          </p:cNvPr>
          <p:cNvSpPr txBox="1"/>
          <p:nvPr/>
        </p:nvSpPr>
        <p:spPr>
          <a:xfrm>
            <a:off x="838200" y="464369"/>
            <a:ext cx="2649397" cy="881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US" sz="54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SPECS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C3F999B-F6CA-1197-6D05-8DEDB94D5719}"/>
              </a:ext>
            </a:extLst>
          </p:cNvPr>
          <p:cNvSpPr txBox="1"/>
          <p:nvPr/>
        </p:nvSpPr>
        <p:spPr>
          <a:xfrm>
            <a:off x="916626" y="2293053"/>
            <a:ext cx="4568944" cy="345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874"/>
              </a:lnSpc>
            </a:pP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elaboraron tres especificaciones para  implementar en el proyecto: consulta de productos bancarias, transferencias a  cuentas propias y transferencias a terceros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A7DBEB1-6223-BB09-20E3-C0A14C524281}"/>
              </a:ext>
            </a:extLst>
          </p:cNvPr>
          <p:cNvGrpSpPr/>
          <p:nvPr/>
        </p:nvGrpSpPr>
        <p:grpSpPr>
          <a:xfrm>
            <a:off x="16230656" y="-1369287"/>
            <a:ext cx="3277467" cy="3277467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C6AD059-C09B-2A4C-A79A-554CC7B27A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F31701B-8E95-ACE9-1DEB-50CAC1C2D67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25" name="Diagrama 24">
            <a:extLst>
              <a:ext uri="{FF2B5EF4-FFF2-40B4-BE49-F238E27FC236}">
                <a16:creationId xmlns:a16="http://schemas.microsoft.com/office/drawing/2014/main" id="{AAAB20AB-B679-9CBF-5190-A682003A93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960357"/>
              </p:ext>
            </p:extLst>
          </p:nvPr>
        </p:nvGraphicFramePr>
        <p:xfrm>
          <a:off x="7451276" y="1576507"/>
          <a:ext cx="10084095" cy="678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" name="Imagen 25">
            <a:extLst>
              <a:ext uri="{FF2B5EF4-FFF2-40B4-BE49-F238E27FC236}">
                <a16:creationId xmlns:a16="http://schemas.microsoft.com/office/drawing/2014/main" id="{54A3ECAB-9FD0-F0BE-BACF-6A96FED841B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760" r="14391"/>
          <a:stretch/>
        </p:blipFill>
        <p:spPr>
          <a:xfrm>
            <a:off x="16459199" y="8674100"/>
            <a:ext cx="1828801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9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75372" y="1790700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75372" y="559133"/>
            <a:ext cx="5256970" cy="85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8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ARQUITECTURA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443" y="2372232"/>
            <a:ext cx="4492263" cy="6501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874"/>
              </a:lnSpc>
            </a:pP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solución implementa una arquitectura empresarial basada en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Clean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complementada con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Domain-Driven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(DDD),  Vertical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Slice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Este enfoque favorece la separación de responsabilidades, la escalabilidad, la mantenibilidad y la facilidad para realizar pruebas automatizadas.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6" name="Picture 2" descr="https://blog.cleancoder.com/uncle-bob/images/2012-08-13-the-clean-architecture/CleanArchitecture.jpg">
            <a:extLst>
              <a:ext uri="{FF2B5EF4-FFF2-40B4-BE49-F238E27FC236}">
                <a16:creationId xmlns:a16="http://schemas.microsoft.com/office/drawing/2014/main" id="{2AEEE9C1-1C8F-400D-8446-7C00BF199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762" y="632461"/>
            <a:ext cx="73533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C0E914DF-79B8-4E19-B768-3C937771C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173" y="7679327"/>
            <a:ext cx="2066925" cy="257175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21E4BC93-81FC-4F69-A0C7-CEF718A8C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642" y="7270840"/>
            <a:ext cx="2124075" cy="237172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447B689-44CA-4B7B-BA54-DB15F5B6D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1149" y="7803152"/>
            <a:ext cx="1638300" cy="2362200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BFC2BE15-48C8-45D4-B0D7-53B6F5CF0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00881" y="7803152"/>
            <a:ext cx="263842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8572" y="-3621334"/>
            <a:ext cx="6460278" cy="64602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6534650" cy="10287000"/>
            <a:chOff x="0" y="0"/>
            <a:chExt cx="172106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1060" cy="2709333"/>
            </a:xfrm>
            <a:custGeom>
              <a:avLst/>
              <a:gdLst/>
              <a:ahLst/>
              <a:cxnLst/>
              <a:rect l="l" t="t" r="r" b="b"/>
              <a:pathLst>
                <a:path w="1721060" h="2709333">
                  <a:moveTo>
                    <a:pt x="0" y="0"/>
                  </a:moveTo>
                  <a:lnTo>
                    <a:pt x="1721060" y="0"/>
                  </a:lnTo>
                  <a:lnTo>
                    <a:pt x="17210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106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16626" y="1732921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16626" y="367185"/>
            <a:ext cx="4568944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USO DE 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6626" y="2293053"/>
            <a:ext cx="4568944" cy="545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874"/>
              </a:lnSpc>
            </a:pP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adoptó una metodología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Driven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Development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utilizando Claude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Code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Kit. A través de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prompts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especializados de ingeniería, fue posible automatizar tareas repetitivas, aplicar estándares de arquitectura y acelerar el desarrollo sin comprometer la calidad del software.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6230656" y="-1369287"/>
            <a:ext cx="3277467" cy="327746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25" name="Diagrama 24">
            <a:extLst>
              <a:ext uri="{FF2B5EF4-FFF2-40B4-BE49-F238E27FC236}">
                <a16:creationId xmlns:a16="http://schemas.microsoft.com/office/drawing/2014/main" id="{24F4D3F0-E300-48F2-8E63-9DEBB528E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9995566"/>
              </p:ext>
            </p:extLst>
          </p:nvPr>
        </p:nvGraphicFramePr>
        <p:xfrm>
          <a:off x="6603705" y="1104900"/>
          <a:ext cx="11805502" cy="756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" name="Imagen 25">
            <a:extLst>
              <a:ext uri="{FF2B5EF4-FFF2-40B4-BE49-F238E27FC236}">
                <a16:creationId xmlns:a16="http://schemas.microsoft.com/office/drawing/2014/main" id="{389588F4-585D-4A4D-AFDB-1447F329315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760" r="14391"/>
          <a:stretch/>
        </p:blipFill>
        <p:spPr>
          <a:xfrm>
            <a:off x="16459199" y="8674100"/>
            <a:ext cx="1828801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645F83-CF4F-4AEF-3704-62F4EC44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28699"/>
            <a:ext cx="7954485" cy="81354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9C8C10-AE2C-9025-A45D-49F04995E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020170"/>
            <a:ext cx="8049748" cy="81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3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987D-E439-C8AD-8C18-8E85600F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09B1903-8733-B7C8-420D-04A1AEE63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12777"/>
            <a:ext cx="7973538" cy="84593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87A91D5-94F9-788E-7237-625BD2A8C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1012777"/>
            <a:ext cx="7973538" cy="845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5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7484-4D73-3AA2-1F7A-D6989878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7A28194-BD87-D036-7EE7-BF04FF66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31" y="1113862"/>
            <a:ext cx="7973538" cy="805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3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65904" y="3110475"/>
            <a:ext cx="1275619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DEMO</a:t>
            </a:r>
          </a:p>
        </p:txBody>
      </p:sp>
      <p:sp>
        <p:nvSpPr>
          <p:cNvPr id="5" name="AutoShape 5"/>
          <p:cNvSpPr/>
          <p:nvPr/>
        </p:nvSpPr>
        <p:spPr>
          <a:xfrm>
            <a:off x="8488950" y="5558790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5664971" y="-782737"/>
            <a:ext cx="3744615" cy="374461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020" y="7356528"/>
            <a:ext cx="2350854" cy="235085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251518" cy="10287000"/>
            <a:chOff x="0" y="0"/>
            <a:chExt cx="16464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6490" cy="2709333"/>
            </a:xfrm>
            <a:custGeom>
              <a:avLst/>
              <a:gdLst/>
              <a:ahLst/>
              <a:cxnLst/>
              <a:rect l="l" t="t" r="r" b="b"/>
              <a:pathLst>
                <a:path w="1646490" h="2709333">
                  <a:moveTo>
                    <a:pt x="0" y="0"/>
                  </a:moveTo>
                  <a:lnTo>
                    <a:pt x="1646490" y="0"/>
                  </a:lnTo>
                  <a:lnTo>
                    <a:pt x="16464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649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16626" y="2552700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916626" y="367185"/>
            <a:ext cx="4568943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LECCIONES APRENDIDAS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3867" y="2960217"/>
            <a:ext cx="4403783" cy="6959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874"/>
              </a:lnSpc>
            </a:pP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principal aprendizaje fue que la Inteligencia Artificial no reemplaza el criterio del desarrollador, sino que potencia su productividad cuando se apoya en una arquitectura sólida, estándares de desarrollo y </a:t>
            </a:r>
            <a:r>
              <a:rPr lang="es-E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prompts</a:t>
            </a:r>
            <a:r>
              <a:rPr lang="es-E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especializados. Este enfoque permitió generar una solución consistente, mantenible y alineada con las mejores prácticas de ingeniería de software.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1E395E5B-D6F0-46FC-8249-036A1D04F8CF}"/>
              </a:ext>
            </a:extLst>
          </p:cNvPr>
          <p:cNvSpPr txBox="1"/>
          <p:nvPr/>
        </p:nvSpPr>
        <p:spPr>
          <a:xfrm>
            <a:off x="8458200" y="2899296"/>
            <a:ext cx="7629377" cy="49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345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IA es más efectiva cuando está guiada por estándares de ingeniería.</a:t>
            </a:r>
          </a:p>
          <a:p>
            <a:pPr marL="342900" lvl="0" indent="-342900" algn="just">
              <a:lnSpc>
                <a:spcPts val="345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conocimiento de los procesos de negocio es fundamental para dirigir los flujos de implementación en </a:t>
            </a: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Driven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Development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342900" lvl="0" indent="-342900" algn="just">
              <a:lnSpc>
                <a:spcPts val="345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calidad de los resultados depende directamente de la calidad de los </a:t>
            </a: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prompts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342900" lvl="0" indent="-342900" algn="just">
              <a:lnSpc>
                <a:spcPts val="3450"/>
              </a:lnSpc>
              <a:buFont typeface="Arial" panose="020B0604020202020204" pitchFamily="34" charset="0"/>
              <a:buChar char="•"/>
            </a:pP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Clean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DDD facilitan la generación modular del código.</a:t>
            </a:r>
          </a:p>
          <a:p>
            <a:pPr marL="342900" lvl="0" indent="-342900" algn="just">
              <a:lnSpc>
                <a:spcPts val="345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revisión humana continúa siendo indispensable para validar la solución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r="-1296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4423" y="3135538"/>
            <a:ext cx="8795646" cy="155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GRACIAS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319</Words>
  <Application>Microsoft Office PowerPoint</Application>
  <PresentationFormat>Personalizado</PresentationFormat>
  <Paragraphs>38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Calibri</vt:lpstr>
      <vt:lpstr>Garet</vt:lpstr>
      <vt:lpstr>Garet Bold</vt:lpstr>
      <vt:lpstr>Open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Business Proposal Pitch Deck Presentation Design</dc:title>
  <cp:lastModifiedBy>Oscar G</cp:lastModifiedBy>
  <cp:revision>11</cp:revision>
  <dcterms:created xsi:type="dcterms:W3CDTF">2006-08-16T00:00:00Z</dcterms:created>
  <dcterms:modified xsi:type="dcterms:W3CDTF">2026-09-26T02:33:56Z</dcterms:modified>
  <dc:identifier>DAHPCcfy7TE</dc:identifier>
</cp:coreProperties>
</file>